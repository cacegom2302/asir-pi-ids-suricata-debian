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B57DBC4-2214-4D4E-8A61-C0FE47F74A2E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Saluda al tribunal. Presenta el título y di que vas a mostrar un sistema de seguridad completo y funcional que has montado desde cero.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CD6DC1-9B02-40FB-8625-41470D931D7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brevemente que vas a cubrir estos 8 puntos en la presentación.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771750-0B25-4B3F-BA05-AA53E44E35D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el contexto: los ataques son cada vez más frecuentes y hay que tener sistemas que detecten y respondan automáticamente.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83179-35FD-4DB2-BEA4-6CD4DC96183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la arquitectura. El atacante llega a HAProxy, que balancea entre Nginx principal y el secundario. Suricata analiza el tráfico y Fail2ban bloquea las IPs atacantes. El script Python manda alertas a Telegram y Email.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F2593A-40EA-4023-9034-181B87FDC7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que Suricata analiza el tráfico y tiene reglas personalizadas para detectar los ataques más comunes. Muestra el ejemplo de alerta.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801DF-FBE7-4716-868A-B2D9CA195CC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el flujo completo de alertas. El script corre como servicio systemd y envía las alertas en tiempo real a Telegram y al email.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D0C9C3-44C3-4B77-A716-71382C3EFB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Demuestra en vivo: para Nginx en el servidor principal con 'systemctl stop nginx' y muestra que la web sigue funcionando desde el secundario.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40B1EF-45BD-477D-AA4E-2A42CDDB870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 que Fail2ban convierte el sistema de IDS (solo detecta) a IPS (detecta y bloquea). Hay dos jails: una para SSH y otra integrada con Suricata.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C523F9-64F7-4DA3-8C51-EB870CBD824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Aquí es donde haces la demostración en vivo. Ten las terminales abiertas y el Telegram visible. Sigue el orden de la diapositiva.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CF595A-D1C7-4D34-A473-78EDED1711B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Resume brevemente los 5 puntos clave. Termina agradeciendo la atención y di que estás listo para las preguntas del tribunal.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563261-3C79-4904-A23A-D266A6C93CA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-1097280"/>
            <a:ext cx="4571640" cy="45716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-457200"/>
            <a:ext cx="3200040" cy="3200040"/>
          </a:xfrm>
          <a:prstGeom prst="ellipse">
            <a:avLst/>
          </a:prstGeom>
          <a:solidFill>
            <a:srgbClr val="1e6fba">
              <a:alpha val="40000"/>
            </a:srgbClr>
          </a:solidFill>
          <a:ln w="12700">
            <a:solidFill>
              <a:srgbClr val="1e6fb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457200" y="360000"/>
            <a:ext cx="100548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457200" y="623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PROYECTO INTEGRADO </a:t>
            </a:r>
            <a:br>
              <a:rPr sz="1300"/>
            </a:b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en-US" sz="1300" spc="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ASIR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57200" y="1097280"/>
            <a:ext cx="73148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de Detección y Prevención</a:t>
            </a:r>
            <a:endParaRPr b="0" lang="es-E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Intrusiones con Suricata</a:t>
            </a:r>
            <a:endParaRPr b="0" lang="es-E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57200" y="28346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Alta Disponibilidad · Alertas Automatizadas · Bloqueo de IPs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457200" y="3429000"/>
            <a:ext cx="3200040" cy="36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57200" y="356616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César Acevedo Gomez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Índice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457200" y="10972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457200" y="10972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57200" y="11430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097280" y="11430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Introducción y problema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457200" y="20116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457200" y="20116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457200" y="20574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097280" y="20574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Arquitectura del sistema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457200" y="29260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457200" y="29260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57200" y="29718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1097280" y="29718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Suricata IDS/IPS y reglas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457200" y="38404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457200" y="38404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457200" y="38862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1097280" y="3886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Alertas: Telegram y Email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4846320" y="10972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4846320" y="10972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4846320" y="11430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5486400" y="11430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Alta disponibilidad con HAProxy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4846320" y="20116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4846320" y="20116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4846320" y="20574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5486400" y="20574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Fail2ban — Bloqueo automático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4846320" y="29260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4846320" y="29260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4846320" y="29718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5486400" y="29718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Demostración de ataques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4846320" y="3840480"/>
            <a:ext cx="411444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4846320" y="3840480"/>
            <a:ext cx="548280" cy="68544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4846320" y="3886200"/>
            <a:ext cx="54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5486400" y="3886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Conclusiones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57200" y="91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 · Introducción y problema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457200" y="11887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2"/>
          <p:cNvSpPr/>
          <p:nvPr/>
        </p:nvSpPr>
        <p:spPr>
          <a:xfrm>
            <a:off x="1188720" y="118872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¿Por qué este proyecto?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457200" y="1965960"/>
            <a:ext cx="8229240" cy="7311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40080" y="20116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Ciberataques en aumento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640080" y="231336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SQL Injection, XSS, fuerza bruta SSH y escaneos de red son ataques cotidianos en cualquier empresa.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457200" y="2834640"/>
            <a:ext cx="8229240" cy="7311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640080" y="28803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Necesidad de detección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640080" y="318204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Las empresas necesitan saber cuándo están siendo atacadas, no solo después de sufrir el daño.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457200" y="3703320"/>
            <a:ext cx="8229240" cy="7311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640080" y="37490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Respuesta automática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640080" y="405072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Un IDS sin respuesta automática no es suficiente. Se necesita bloquear al atacante en tiempo real.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91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 · Arquitectura del sistema</a:t>
            </a:r>
            <a:endParaRPr b="0" lang="es-E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274320" y="1097280"/>
            <a:ext cx="5668920" cy="3748680"/>
          </a:xfrm>
          <a:prstGeom prst="roundRect">
            <a:avLst>
              <a:gd name="adj" fmla="val 3659"/>
            </a:avLst>
          </a:prstGeom>
          <a:solidFill>
            <a:srgbClr val="1a3a5c">
              <a:alpha val="70000"/>
            </a:srgbClr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365760" y="1143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VM Principal — 192.168.1.35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6217920" y="1097280"/>
            <a:ext cx="2651400" cy="1645560"/>
          </a:xfrm>
          <a:prstGeom prst="roundRect">
            <a:avLst>
              <a:gd name="adj" fmla="val 8333"/>
            </a:avLst>
          </a:prstGeom>
          <a:solidFill>
            <a:srgbClr val="1a3a5c">
              <a:alpha val="70000"/>
            </a:srgbClr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6309360" y="11430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VM Secundaria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3474720" y="1234440"/>
            <a:ext cx="1828440" cy="50256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3474720" y="123444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⚡ Atacante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2926080" y="1920240"/>
            <a:ext cx="2011320" cy="548280"/>
          </a:xfrm>
          <a:prstGeom prst="roundRect">
            <a:avLst>
              <a:gd name="adj" fmla="val 13333"/>
            </a:avLst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2926080" y="192024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HAProxy :8080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457200" y="2651760"/>
            <a:ext cx="2011320" cy="5482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457200" y="265176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Nginx :80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457200" y="3383280"/>
            <a:ext cx="2011320" cy="548280"/>
          </a:xfrm>
          <a:prstGeom prst="roundRect">
            <a:avLst>
              <a:gd name="adj" fmla="val 13333"/>
            </a:avLst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457200" y="338328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Suricata IDS/IPS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457200" y="4114800"/>
            <a:ext cx="2011320" cy="5482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457200" y="411480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Fail2ban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2926080" y="3383280"/>
            <a:ext cx="2011320" cy="548280"/>
          </a:xfrm>
          <a:prstGeom prst="roundRect">
            <a:avLst>
              <a:gd name="adj" fmla="val 13333"/>
            </a:avLst>
          </a:prstGeom>
          <a:solidFill>
            <a:srgbClr val="6b21a8"/>
          </a:solidFill>
          <a:ln w="12700">
            <a:solidFill>
              <a:srgbClr val="6b2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2926080" y="338328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Script Python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2926080" y="4114800"/>
            <a:ext cx="2011320" cy="54828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2926080" y="411480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Telegram + Email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6400800" y="1600200"/>
            <a:ext cx="2194200" cy="5482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6400800" y="160020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Nginx backup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4389120" y="1737360"/>
            <a:ext cx="360" cy="182880"/>
          </a:xfrm>
          <a:prstGeom prst="line">
            <a:avLst/>
          </a:prstGeom>
          <a:ln w="19050">
            <a:solidFill>
              <a:srgbClr val="e63946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3931920" y="1828800"/>
            <a:ext cx="360" cy="9144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4"/>
          <p:cNvSpPr/>
          <p:nvPr/>
        </p:nvSpPr>
        <p:spPr>
          <a:xfrm>
            <a:off x="1463040" y="2468880"/>
            <a:ext cx="360" cy="18288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5"/>
          <p:cNvSpPr/>
          <p:nvPr/>
        </p:nvSpPr>
        <p:spPr>
          <a:xfrm>
            <a:off x="1463040" y="3200400"/>
            <a:ext cx="360" cy="18288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6"/>
          <p:cNvSpPr/>
          <p:nvPr/>
        </p:nvSpPr>
        <p:spPr>
          <a:xfrm>
            <a:off x="1463040" y="3931920"/>
            <a:ext cx="360" cy="18288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7"/>
          <p:cNvSpPr/>
          <p:nvPr/>
        </p:nvSpPr>
        <p:spPr>
          <a:xfrm>
            <a:off x="2468880" y="3657600"/>
            <a:ext cx="457200" cy="36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8"/>
          <p:cNvSpPr/>
          <p:nvPr/>
        </p:nvSpPr>
        <p:spPr>
          <a:xfrm>
            <a:off x="3931920" y="3931920"/>
            <a:ext cx="360" cy="182880"/>
          </a:xfrm>
          <a:prstGeom prst="line">
            <a:avLst/>
          </a:prstGeom>
          <a:ln w="19050">
            <a:solidFill>
              <a:srgbClr val="00b4d8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57200" y="91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 · Suricata IDS/IPS y reglas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457200" y="118872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2"/>
          <p:cNvSpPr/>
          <p:nvPr/>
        </p:nvSpPr>
        <p:spPr>
          <a:xfrm>
            <a:off x="1097280" y="12344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¿Qué hace Suricata?</a:t>
            </a:r>
            <a:endParaRPr b="0" lang="es-E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457200" y="1783080"/>
            <a:ext cx="4114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Analiza todo el tráfico de red en tiempo real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Detecta patrones de ataque con reglas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Genera alertas en /var/log/suricata/fast.log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Escucha en interfaz enp0s9 (red local)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4754880" y="109728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Ataques detectados</a:t>
            </a:r>
            <a:endParaRPr b="0" lang="es-E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4754880" y="1691640"/>
            <a:ext cx="2011320" cy="456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4846320" y="17373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🔍 Nmap SYN Scan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4754880" y="2286000"/>
            <a:ext cx="2011320" cy="456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484632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🔐 Fuerza bruta SSH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4754880" y="2880360"/>
            <a:ext cx="2011320" cy="456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4846320" y="2926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💉 SQL Injection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6949440" y="1691640"/>
            <a:ext cx="2011320" cy="456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040880" y="17373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⚡ XSS (Cross-Site Scripting)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6949440" y="2286000"/>
            <a:ext cx="2011320" cy="456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704088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📂 Directory Traversal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6949440" y="2880360"/>
            <a:ext cx="2011320" cy="456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7040880" y="2926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🌐 Acceso a /admin, /etc/passwd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7"/>
          <p:cNvSpPr/>
          <p:nvPr/>
        </p:nvSpPr>
        <p:spPr>
          <a:xfrm>
            <a:off x="365760" y="3291840"/>
            <a:ext cx="8412120" cy="155412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548640" y="33375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b4d8"/>
                </a:solidFill>
                <a:effectLst/>
                <a:uFillTx/>
                <a:latin typeface="Courier New"/>
                <a:ea typeface="Courier New"/>
              </a:rPr>
              <a:t>Ejemplo de alerta en fast.log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548640" y="365760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6d6a0"/>
                </a:solidFill>
                <a:effectLst/>
                <a:uFillTx/>
                <a:latin typeface="Courier New"/>
                <a:ea typeface="Courier New"/>
              </a:rPr>
              <a:t>06/12/2026-11:30:45 [**] [1:1000010:1] SQL Injection detectado - UNION SELECT [**]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6d6a0"/>
                </a:solidFill>
                <a:effectLst/>
                <a:uFillTx/>
                <a:latin typeface="Courier New"/>
                <a:ea typeface="Courier New"/>
              </a:rPr>
              <a:t>[Priority: 1] {TCP} 192.168.1.44:54321 -&gt; 192.168.1.35:80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91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· Alertas: Telegram y Email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457200" y="1188720"/>
            <a:ext cx="1828440" cy="1645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1051560" y="132588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3"/>
          <p:cNvSpPr/>
          <p:nvPr/>
        </p:nvSpPr>
        <p:spPr>
          <a:xfrm>
            <a:off x="457200" y="201168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Suricata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detecta ataque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 flipH="1">
            <a:off x="2285640" y="2011680"/>
            <a:ext cx="274680" cy="0"/>
          </a:xfrm>
          <a:prstGeom prst="line">
            <a:avLst/>
          </a:prstGeom>
          <a:ln w="19050">
            <a:solidFill>
              <a:srgbClr val="64748b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2560320" y="1188720"/>
            <a:ext cx="1828440" cy="1645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2"/>
          <a:stretch/>
        </p:blipFill>
        <p:spPr>
          <a:xfrm>
            <a:off x="3154680" y="132588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6"/>
          <p:cNvSpPr/>
          <p:nvPr/>
        </p:nvSpPr>
        <p:spPr>
          <a:xfrm>
            <a:off x="2560320" y="201168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Escribe en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fast.log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 flipH="1">
            <a:off x="4388760" y="2011680"/>
            <a:ext cx="274680" cy="0"/>
          </a:xfrm>
          <a:prstGeom prst="line">
            <a:avLst/>
          </a:prstGeom>
          <a:ln w="19050">
            <a:solidFill>
              <a:srgbClr val="64748b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4663440" y="1188720"/>
            <a:ext cx="1828440" cy="1645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3"/>
          <a:stretch/>
        </p:blipFill>
        <p:spPr>
          <a:xfrm>
            <a:off x="5257800" y="132588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9"/>
          <p:cNvSpPr/>
          <p:nvPr/>
        </p:nvSpPr>
        <p:spPr>
          <a:xfrm>
            <a:off x="4663440" y="201168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21a8"/>
                </a:solidFill>
                <a:effectLst/>
                <a:uFillTx/>
                <a:latin typeface="Calibri"/>
                <a:ea typeface="Calibri"/>
              </a:rPr>
              <a:t>Script Python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b21a8"/>
                </a:solidFill>
                <a:effectLst/>
                <a:uFillTx/>
                <a:latin typeface="Calibri"/>
                <a:ea typeface="Calibri"/>
              </a:rPr>
              <a:t>lee el log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 flipH="1">
            <a:off x="6491880" y="1980000"/>
            <a:ext cx="274680" cy="0"/>
          </a:xfrm>
          <a:prstGeom prst="line">
            <a:avLst/>
          </a:prstGeom>
          <a:ln w="19050">
            <a:solidFill>
              <a:srgbClr val="64748b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6766560" y="1188720"/>
            <a:ext cx="1828440" cy="1645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3" descr="preencoded.png"/>
          <p:cNvPicPr/>
          <p:nvPr/>
        </p:nvPicPr>
        <p:blipFill>
          <a:blip r:embed="rId4"/>
          <a:stretch/>
        </p:blipFill>
        <p:spPr>
          <a:xfrm>
            <a:off x="7360920" y="132588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2"/>
          <p:cNvSpPr/>
          <p:nvPr/>
        </p:nvSpPr>
        <p:spPr>
          <a:xfrm>
            <a:off x="6766560" y="201168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Telegram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+ Email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365760" y="2971800"/>
            <a:ext cx="8412120" cy="1919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1f5f9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4" descr="preencoded.png"/>
          <p:cNvPicPr/>
          <p:nvPr/>
        </p:nvPicPr>
        <p:blipFill>
          <a:blip r:embed="rId5"/>
          <a:stretch/>
        </p:blipFill>
        <p:spPr>
          <a:xfrm>
            <a:off x="548640" y="31089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4"/>
          <p:cNvSpPr/>
          <p:nvPr/>
        </p:nvSpPr>
        <p:spPr>
          <a:xfrm>
            <a:off x="1097280" y="31089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¿Cómo funciona?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548640" y="361188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Script Python ejecutado como servicio systemd (arranque automático)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Lee el fast.log de Suricata en tiempo real con tail -f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Envía cada nueva alerta a Telegram vía Bot API y a Gmail vía SMTP SSL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Evita duplicados mediante un conjunto de alertas ya enviadas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457200" y="91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 · Alta disponibilidad con HAProxy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457200" y="1097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2"/>
          <p:cNvSpPr/>
          <p:nvPr/>
        </p:nvSpPr>
        <p:spPr>
          <a:xfrm>
            <a:off x="1097280" y="11887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Balanceo de carga + Failover automático</a:t>
            </a:r>
            <a:endParaRPr b="0" lang="es-E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65760" y="1828800"/>
            <a:ext cx="4023000" cy="25599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548640" y="1920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✅  Funcionamiento normal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548640" y="242316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Usuario accede a :8080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HAProxy redirige al Nginx principal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Servidor secundario en espera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731520" y="3566160"/>
            <a:ext cx="3382920" cy="50256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731520" y="356616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🌐 Web principal activa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4754880" y="1828800"/>
            <a:ext cx="4023000" cy="25599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4937760" y="1920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⚡  Servidor principal cae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4937760" y="242316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HAProxy detecta el fallo con health check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Activa automáticamente el servidor backup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f1b2d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f1b2d"/>
                </a:solidFill>
                <a:effectLst/>
                <a:uFillTx/>
                <a:latin typeface="Calibri"/>
                <a:ea typeface="Calibri"/>
              </a:rPr>
              <a:t>El usuario no nota ninguna interrupción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5120640" y="3566160"/>
            <a:ext cx="3382920" cy="502560"/>
          </a:xfrm>
          <a:prstGeom prst="roundRect">
            <a:avLst>
              <a:gd name="adj" fmla="val 10909"/>
            </a:avLst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5120640" y="356616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🔄 Web secundaria activa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457200" y="91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 · Fail2ban — Bloqueo automático</a:t>
            </a:r>
            <a:endParaRPr b="0" lang="es-E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preencoded.png"/>
          <p:cNvPicPr/>
          <p:nvPr/>
        </p:nvPicPr>
        <p:blipFill>
          <a:blip r:embed="rId1"/>
          <a:stretch/>
        </p:blipFill>
        <p:spPr>
          <a:xfrm>
            <a:off x="457200" y="11430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2"/>
          <p:cNvSpPr/>
          <p:nvPr/>
        </p:nvSpPr>
        <p:spPr>
          <a:xfrm>
            <a:off x="1097280" y="12344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De IDS a IPS — El sistema no solo detecta, también bloquea</a:t>
            </a:r>
            <a:endParaRPr b="0" lang="es-E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365760" y="1920240"/>
            <a:ext cx="8412120" cy="1051200"/>
          </a:xfrm>
          <a:prstGeom prst="roundRect">
            <a:avLst>
              <a:gd name="adj" fmla="val 8696"/>
            </a:avLst>
          </a:prstGeom>
          <a:solidFill>
            <a:srgbClr val="1a3a5c"/>
          </a:solidFill>
          <a:ln w="1905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640080" y="20116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Jail SSH</a:t>
            </a:r>
            <a:endParaRPr b="0" lang="es-E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640080" y="242316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5 intentos fallidos de login SSH en 10 minutos → IP baneada 1 hora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365760" y="3200400"/>
            <a:ext cx="8412120" cy="1051200"/>
          </a:xfrm>
          <a:prstGeom prst="roundRect">
            <a:avLst>
              <a:gd name="adj" fmla="val 8696"/>
            </a:avLst>
          </a:prstGeom>
          <a:solidFill>
            <a:srgbClr val="1a3a5c"/>
          </a:solidFill>
          <a:ln w="1905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640080" y="32918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Jail Suricata</a:t>
            </a:r>
            <a:endParaRPr b="0" lang="es-E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640080" y="370332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10 alertas en 30 segundos en fast.log → IP baneada automáticamente en puertos 80, 8080 y 22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365760" y="3749040"/>
            <a:ext cx="8412120" cy="1096920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640080" y="37947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Flujo de bloqueo: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640080" y="416052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4fd"/>
                </a:solidFill>
                <a:effectLst/>
                <a:uFillTx/>
                <a:latin typeface="Calibri"/>
                <a:ea typeface="Calibri"/>
              </a:rPr>
              <a:t>Ataque detectado  →  Suricata escribe en fast.log  →  Fail2ban lee el log  →  iptables bloquea la IP  →  Telegram notifica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57200" y="914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· Demostración de ataques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274320" y="1097280"/>
            <a:ext cx="8595000" cy="6397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320040" y="1188720"/>
            <a:ext cx="456840" cy="456840"/>
          </a:xfrm>
          <a:prstGeom prst="ellipse">
            <a:avLst/>
          </a:prstGeom>
          <a:solidFill>
            <a:srgbClr val="1e6fba"/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320040" y="1188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68680" y="11430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Escaneo Nmap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868680" y="144468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nmap -sS 192.168.1.35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5852160" y="118872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1e6fba">
              <a:alpha val="20000"/>
            </a:srgbClr>
          </a:solidFill>
          <a:ln w="12700">
            <a:solidFill>
              <a:srgbClr val="1e6f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5852160" y="11887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6fba"/>
                </a:solidFill>
                <a:effectLst/>
                <a:uFillTx/>
                <a:latin typeface="Calibri"/>
                <a:ea typeface="Calibri"/>
              </a:rPr>
              <a:t>✓ Alerta en Telegram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274320" y="1847160"/>
            <a:ext cx="8595000" cy="6397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320040" y="1938600"/>
            <a:ext cx="456840" cy="4568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320040" y="1938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868680" y="18928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SQL Injection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868680" y="219456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http://192.168.1.35/?id=1'UNION SELECT 1,2,3--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5852160" y="193860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5852160" y="193860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✓ Alerta SQLi + baneo IP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274320" y="2597040"/>
            <a:ext cx="8595000" cy="6397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7"/>
          <p:cNvSpPr/>
          <p:nvPr/>
        </p:nvSpPr>
        <p:spPr>
          <a:xfrm>
            <a:off x="320040" y="2688480"/>
            <a:ext cx="456840" cy="4568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320040" y="2688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868680" y="26427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XSS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868680" y="294444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http://192.168.1.35/?q=&lt;script&gt;alert(1)&lt;/script&gt;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5852160" y="268848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5852160" y="26884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✓ Alerta XSS en Telegram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3"/>
          <p:cNvSpPr/>
          <p:nvPr/>
        </p:nvSpPr>
        <p:spPr>
          <a:xfrm>
            <a:off x="274320" y="3346560"/>
            <a:ext cx="8595000" cy="6397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4"/>
          <p:cNvSpPr/>
          <p:nvPr/>
        </p:nvSpPr>
        <p:spPr>
          <a:xfrm>
            <a:off x="320040" y="3438000"/>
            <a:ext cx="456840" cy="4568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5"/>
          <p:cNvSpPr/>
          <p:nvPr/>
        </p:nvSpPr>
        <p:spPr>
          <a:xfrm>
            <a:off x="320040" y="3438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868680" y="33922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Fuerza bruta SSH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7"/>
          <p:cNvSpPr/>
          <p:nvPr/>
        </p:nvSpPr>
        <p:spPr>
          <a:xfrm>
            <a:off x="868680" y="369432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ssh usuario@192.168.1.35 (5 intentos)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8"/>
          <p:cNvSpPr/>
          <p:nvPr/>
        </p:nvSpPr>
        <p:spPr>
          <a:xfrm>
            <a:off x="5852160" y="343800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f77f00">
              <a:alpha val="20000"/>
            </a:srgbClr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9"/>
          <p:cNvSpPr/>
          <p:nvPr/>
        </p:nvSpPr>
        <p:spPr>
          <a:xfrm>
            <a:off x="5852160" y="343800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77f00"/>
                </a:solidFill>
                <a:effectLst/>
                <a:uFillTx/>
                <a:latin typeface="Calibri"/>
                <a:ea typeface="Calibri"/>
              </a:rPr>
              <a:t>✓ IP baneada por Fail2ban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0"/>
          <p:cNvSpPr/>
          <p:nvPr/>
        </p:nvSpPr>
        <p:spPr>
          <a:xfrm>
            <a:off x="274320" y="4096440"/>
            <a:ext cx="8595000" cy="63972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1"/>
          <p:cNvSpPr/>
          <p:nvPr/>
        </p:nvSpPr>
        <p:spPr>
          <a:xfrm>
            <a:off x="320040" y="4187880"/>
            <a:ext cx="456840" cy="4568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2"/>
          <p:cNvSpPr/>
          <p:nvPr/>
        </p:nvSpPr>
        <p:spPr>
          <a:xfrm>
            <a:off x="320040" y="4187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3"/>
          <p:cNvSpPr/>
          <p:nvPr/>
        </p:nvSpPr>
        <p:spPr>
          <a:xfrm>
            <a:off x="868680" y="41421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Alta disponibilidad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4"/>
          <p:cNvSpPr/>
          <p:nvPr/>
        </p:nvSpPr>
        <p:spPr>
          <a:xfrm>
            <a:off x="868680" y="444384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urier New"/>
                <a:ea typeface="Courier New"/>
              </a:rPr>
              <a:t>systemctl stop nginx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5"/>
          <p:cNvSpPr/>
          <p:nvPr/>
        </p:nvSpPr>
        <p:spPr>
          <a:xfrm>
            <a:off x="5852160" y="4187880"/>
            <a:ext cx="2834280" cy="456840"/>
          </a:xfrm>
          <a:prstGeom prst="roundRect">
            <a:avLst>
              <a:gd name="adj" fmla="val 12000"/>
            </a:avLst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6"/>
          <p:cNvSpPr/>
          <p:nvPr/>
        </p:nvSpPr>
        <p:spPr>
          <a:xfrm>
            <a:off x="5852160" y="41878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d6a0"/>
                </a:solidFill>
                <a:effectLst/>
                <a:uFillTx/>
                <a:latin typeface="Calibri"/>
                <a:ea typeface="Calibri"/>
              </a:rPr>
              <a:t>✓ Web sigue desde secundario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6400800" y="2286000"/>
            <a:ext cx="3657240" cy="365724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1a3a5c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457200" y="2743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 · Conclusiones</a:t>
            </a:r>
            <a:endParaRPr b="0" lang="es-E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0" descr="preencoded.png"/>
          <p:cNvPicPr/>
          <p:nvPr/>
        </p:nvPicPr>
        <p:blipFill>
          <a:blip r:embed="rId1"/>
          <a:stretch/>
        </p:blipFill>
        <p:spPr>
          <a:xfrm>
            <a:off x="457200" y="109728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2"/>
          <p:cNvSpPr/>
          <p:nvPr/>
        </p:nvSpPr>
        <p:spPr>
          <a:xfrm>
            <a:off x="1051560" y="11887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Lo que hemos conseguido</a:t>
            </a:r>
            <a:endParaRPr b="0" lang="es-E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365760" y="1737360"/>
            <a:ext cx="8046360" cy="41112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411480" y="1810440"/>
            <a:ext cx="255600" cy="255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777240" y="178308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IDS/IPS completo con Suricata y reglas personalizadas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365760" y="2267640"/>
            <a:ext cx="8046360" cy="41112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7"/>
          <p:cNvSpPr/>
          <p:nvPr/>
        </p:nvSpPr>
        <p:spPr>
          <a:xfrm>
            <a:off x="411480" y="2340720"/>
            <a:ext cx="255600" cy="255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777240" y="231336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Alertas en tiempo real a Telegram y Email automatizadas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>
            <a:off x="365760" y="2797920"/>
            <a:ext cx="8046360" cy="41112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411480" y="2871360"/>
            <a:ext cx="255600" cy="255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777240" y="284364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Alta disponibilidad real con HAProxy + servidor secundario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2"/>
          <p:cNvSpPr/>
          <p:nvPr/>
        </p:nvSpPr>
        <p:spPr>
          <a:xfrm>
            <a:off x="365760" y="3328560"/>
            <a:ext cx="8046360" cy="41112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3"/>
          <p:cNvSpPr/>
          <p:nvPr/>
        </p:nvSpPr>
        <p:spPr>
          <a:xfrm>
            <a:off x="411480" y="3401640"/>
            <a:ext cx="255600" cy="255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777240" y="337428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Bloqueo automático de IPs con Fail2ban integrado con Suricata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5"/>
          <p:cNvSpPr/>
          <p:nvPr/>
        </p:nvSpPr>
        <p:spPr>
          <a:xfrm>
            <a:off x="365760" y="3858840"/>
            <a:ext cx="8046360" cy="41112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411480" y="3931920"/>
            <a:ext cx="255600" cy="255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777240" y="390456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Todo desplegado en Debian 13 con servicios del sistema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8"/>
          <p:cNvSpPr/>
          <p:nvPr/>
        </p:nvSpPr>
        <p:spPr>
          <a:xfrm>
            <a:off x="457200" y="45720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¿Preguntas?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457200" y="480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2026-06-13T14:25:29Z</dcterms:created>
  <dc:creator>César Acevedo Gomez</dc:creator>
  <dc:description/>
  <dc:language>es-ES</dc:language>
  <cp:lastModifiedBy/>
  <dcterms:modified xsi:type="dcterms:W3CDTF">2026-06-13T16:32:35Z</dcterms:modified>
  <cp:revision>2</cp:revision>
  <dc:subject>PptxGenJS Presentation</dc:subject>
  <dc:title>Proyecto Integrado ASIR — IDS Suricata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